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5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64592"/>
          <a:lstStyle/>
          <a:p>
            <a:pPr algn="ctr"/>
            <a:r>
              <a:rPr sz="3000" b="1">
                <a:solidFill>
                  <a:srgbClr val="FFFFFF"/>
                </a:solidFill>
              </a:rPr>
              <a:t>TamuBot —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5669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500000"/>
                </a:solidFill>
              </a:rPr>
              <a:t>Choosing Courses Takes Time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</a:rPr>
              <a:t>• Searching for, reading, and understanding each syllabus is slow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</a:rPr>
              <a:t>• Comparing courses to find the best personal fit takes effort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</a:rPr>
              <a:t>• Easy to miss good courses you didn't know to look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005840"/>
            <a:ext cx="5486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500000"/>
                </a:solidFill>
              </a:rPr>
              <a:t>Planning Around Constraints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</a:rPr>
              <a:t>• Fitting courses to your specific program requirements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</a:rPr>
              <a:t>• Aligning class schedules across multiple courses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</a:rPr>
              <a:t>• Tracking prerequisites and registration windows term-to-term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56692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500000"/>
                </a:solidFill>
              </a:rPr>
              <a:t>Advisor Time Is Limited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</a:rPr>
              <a:t>• Advisors are a great resource, but appointments are short and scheduled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</a:rPr>
              <a:t>• Students get more out of meetings when they come prepared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</a:rPr>
              <a:t>• Self-research is the bottleneck before that conversation can start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3657600"/>
            <a:ext cx="54864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500000"/>
                </a:solidFill>
              </a:rPr>
              <a:t>AI Without Grounding Falls Short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</a:rPr>
              <a:t>• LLMs make broad knowledge easy to access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</a:rPr>
              <a:t>• Generic LLM answers are often not grounded in real documents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</a:rPr>
              <a:t>• Hallucinations make answers unreliable for high-stakes decisions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</a:rPr>
              <a:t>• Students need answers tied to actual TAMU syllabi they can verify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666666"/>
                </a:solidFill>
              </a:rPr>
              <a:t>Texas A&amp;M graduate course/policy assistant — RAG-grounded, citation-first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5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64592"/>
          <a:lstStyle/>
          <a:p>
            <a:pPr algn="ctr"/>
            <a:r>
              <a:rPr sz="3000" b="1">
                <a:solidFill>
                  <a:srgbClr val="FFFFFF"/>
                </a:solidFill>
              </a:rPr>
              <a:t>TamuBot — Current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5669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500000"/>
                </a:solidFill>
              </a:rPr>
              <a:t>RAG Pipeline (live)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</a:rPr>
              <a:t>• 3-stage LangGraph: Router → Retrieval → Generator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</a:rPr>
              <a:t>• Gemini 2.5 Flash for routing, generation, PDF parsing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</a:rPr>
              <a:t>• Hybrid retrieval: vector + BM25 (RRF) + Voyage rerank-2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</a:rPr>
              <a:t>• 8-function routing matrix (metadata/hybrid/semantic/compare)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</a:rPr>
              <a:t>• Recursive discovery: from an anchor course, find related ones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</a:rPr>
              <a:t>• Conversation memory via mem0 + SQLite checkpoints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005840"/>
            <a:ext cx="5486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500000"/>
                </a:solidFill>
              </a:rPr>
              <a:t>Data &amp; Ingestion (7-step pipeline)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</a:rPr>
              <a:t>• 1. Scrape — Howdy Portal + Simple Syllabus PDFs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</a:rPr>
              <a:t>• 2. Convert — Docling parses PDFs to markdown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</a:rPr>
              <a:t>• 3. Strip boilerplate — repeated headers/footers/policies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</a:rPr>
              <a:t>• 4. Normalize hierarchy — headings, sections, lists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</a:rPr>
              <a:t>• 5. Recover images &amp; tables — Gemini multimodal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</a:rPr>
              <a:t>• 6. Validate — LLM + false-positive (bronze→silver→gold)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</a:rPr>
              <a:t>• 7. Chunk &amp; embed — Voyage voyage-3 → MongoDB Atlas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56692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500000"/>
                </a:solidFill>
              </a:rPr>
              <a:t>Frontend &amp; Ops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</a:rPr>
              <a:t>• Streamlit chat UI w/ hot-reload for RAG modules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</a:rPr>
              <a:t>• Citation on every factual claim, linked to its source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</a:rPr>
              <a:t>• Inline links to the syllabus for each cited course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</a:rPr>
              <a:t>• Course comparison: tables with per-cell citations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</a:rPr>
              <a:t>• Docker + API proxy: TAMU/Voyage per-session budgets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3657600"/>
            <a:ext cx="54864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500000"/>
                </a:solidFill>
              </a:rPr>
              <a:t>Observability &amp; Eval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</a:rPr>
              <a:t>• Langfuse per-node traces: cost, latency, tokens, errors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</a:rPr>
              <a:t>• Drill into any graph node for troubleshooting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</a:rPr>
              <a:t>• RAGAS answer quality: Faithfulness + Answer Relevancy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</a:rPr>
              <a:t>• RAGAS retrieval quality: Context Precision + Recall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</a:rPr>
              <a:t>• Golden-set benchmarks + chunking-eval harness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</a:rPr>
              <a:t>• pytest + mypy + ruff in CI 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666666"/>
                </a:solidFill>
              </a:rPr>
              <a:t>Branch: main  •  Recent: course comparison revamp, Docling v4, image_recovery filter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5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64592"/>
          <a:lstStyle/>
          <a:p>
            <a:pPr algn="ctr"/>
            <a:r>
              <a:rPr sz="3000" b="1">
                <a:solidFill>
                  <a:srgbClr val="FFFFFF"/>
                </a:solidFill>
              </a:rPr>
              <a:t>RAG Pipeline — Flow</a:t>
            </a:r>
          </a:p>
        </p:txBody>
      </p:sp>
      <p:pic>
        <p:nvPicPr>
          <p:cNvPr id="3" name="Picture 2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7863840" cy="5394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12480" y="1005840"/>
            <a:ext cx="35661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500000"/>
                </a:solidFill>
              </a:rPr>
              <a:t>How a query flows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</a:rPr>
              <a:t>• HISTORY_INJECT — pulls prior turns from mem0 Cloud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</a:rPr>
              <a:t>• ROUTER — TAMU LLM extracts variables, picks function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</a:rPr>
              <a:t>• Out-of-scope → CANNED_RESPONSE (early exit)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</a:rPr>
              <a:t>• RETRIEVAL — MongoDB Atlas (vector + BM25) + Voyage rerank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</a:rPr>
              <a:t>• GENERATOR — TAMU LLM produces cited answer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</a:rPr>
              <a:t>• Recursive loop — Generator can re-trigger Retrieval w/ updated state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</a:rPr>
              <a:t>• HISTORY_UPDATE — writes turn back to mem0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</a:rPr>
              <a:t>• Langfuse traces every node end-to-end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666666"/>
                </a:solidFill>
              </a:rPr>
              <a:t>LangGraph state machine — Router → Retrieval → Generator with recursive refinement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5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64592"/>
          <a:lstStyle/>
          <a:p>
            <a:pPr algn="ctr"/>
            <a:r>
              <a:rPr sz="3000" b="1">
                <a:solidFill>
                  <a:srgbClr val="FFFFFF"/>
                </a:solidFill>
              </a:rPr>
              <a:t>TamuBot — Future Goals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5669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500000"/>
                </a:solidFill>
              </a:rPr>
              <a:t>Data Coverage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</a:rPr>
              <a:t>• Add catalog.tamu.edu (course descriptions, degree plans, certificates)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</a:rPr>
              <a:t>• Switch from fixed-size to semantic chunking by syllabus category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</a:rPr>
              <a:t>• Close syllabus gaps across Howdy Portal + Simple Syllabus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</a:rPr>
              <a:t>• Expand beyond ISEN/CSCE to all graduate departments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</a:rPr>
              <a:t>• Promote silver → gold for the full corpus via iterative QA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</a:rPr>
              <a:t>• Refresh cadence: scheduled re-scrape per term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005840"/>
            <a:ext cx="5486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500000"/>
                </a:solidFill>
              </a:rPr>
              <a:t>Retrieval Quality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</a:rPr>
              <a:t>• Per-stage LLMs (router/retrieval/generator) for speed + quality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</a:rPr>
              <a:t>• Optimize semantic search: embeddings, top-k, thresholds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</a:rPr>
              <a:t>• Multi-step / multi-hop query evaluation in the eval harness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</a:rPr>
              <a:t>• Schema-aware diffing for multi-course comparisons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</a:rPr>
              <a:t>• Recursive discovery: broaden anchor strategies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</a:rPr>
              <a:t>• Out-of-scope rejection: fewer false positives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56692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500000"/>
                </a:solidFill>
              </a:rPr>
              <a:t>Product &amp; UX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</a:rPr>
              <a:t>• Polish frontend UX: layout, readability, response display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</a:rPr>
              <a:t>• Feedback loop: thumbs / ratings on each response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</a:rPr>
              <a:t>• Smoother, more reliable conversational flow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</a:rPr>
              <a:t>• Auth + persistent per-student memory across sessions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</a:rPr>
              <a:t>• Advisor mode: planning, prerequisites, degree-plan overlays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</a:rPr>
              <a:t>• Source preview pane: jump from citation → chunk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3657600"/>
            <a:ext cx="54864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500000"/>
                </a:solidFill>
              </a:rPr>
              <a:t>Reliability &amp; Deployment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</a:rPr>
              <a:t>• Red-team the pipeline: prompt injection + data leakage tests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</a:rPr>
              <a:t>• Cost management: caching, budgets, quotas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</a:rPr>
              <a:t>• Load-balancing gateway in front of LLM calls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</a:rPr>
              <a:t>• Cloud deployment for production hosting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</a:rPr>
              <a:t>• Quality alerting: notify on regressions and drift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</a:rPr>
              <a:t>• Grow golden set; track regression on every PR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666666"/>
                </a:solidFill>
              </a:rPr>
              <a:t>Targets shaped by current backlog and recent ingestion-pipeline iterations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5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64592"/>
          <a:lstStyle/>
          <a:p>
            <a:pPr algn="ctr"/>
            <a:r>
              <a:rPr sz="3000" b="1">
                <a:solidFill>
                  <a:srgbClr val="FFFFFF"/>
                </a:solidFill>
              </a:rPr>
              <a:t>Related Work — Similar Systems at Other Universities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5669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500000"/>
                </a:solidFill>
              </a:rPr>
              <a:t>RAG-Based Academic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669280" cy="164592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500000"/>
                </a:solidFill>
              </a:rPr>
              <a:t>Aurora</a:t>
            </a:r>
            <a:r>
              <a:rPr sz="1200" b="1">
                <a:solidFill>
                  <a:srgbClr val="222222"/>
                </a:solidFill>
              </a:rPr>
              <a:t>  —  Florida International University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22222"/>
                </a:solidFill>
              </a:rPr>
              <a:t>Neuro-symbolic advising agent — RAG + Prolog logic engine for policy-compliant course advising. 0.93 semantic alignment, 0.71s latency.</a:t>
            </a:r>
          </a:p>
          <a:p>
            <a:r>
              <a:rPr sz="900" i="1">
                <a:solidFill>
                  <a:srgbClr val="666666"/>
                </a:solidFill>
              </a:rPr>
              <a:t>arXiv:2602.17999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5669280" cy="164592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500000"/>
                </a:solidFill>
              </a:rPr>
              <a:t>BarkPlug V.2</a:t>
            </a:r>
            <a:r>
              <a:rPr sz="1200" b="1">
                <a:solidFill>
                  <a:srgbClr val="222222"/>
                </a:solidFill>
              </a:rPr>
              <a:t>  —  Mississippi State University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22222"/>
                </a:solidFill>
              </a:rPr>
              <a:t>RAG pipeline over 42 university resource documents using GPT-3.5-turbo. Evaluated with RAGAS (score 0.96) — same framework as TamuBot.</a:t>
            </a:r>
          </a:p>
          <a:p>
            <a:r>
              <a:rPr sz="900" i="1">
                <a:solidFill>
                  <a:srgbClr val="666666"/>
                </a:solidFill>
              </a:rPr>
              <a:t>arXiv:2405.08120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663440"/>
            <a:ext cx="5669280" cy="164592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500000"/>
                </a:solidFill>
              </a:rPr>
              <a:t>URAG</a:t>
            </a:r>
            <a:r>
              <a:rPr sz="1200" b="1">
                <a:solidFill>
                  <a:srgbClr val="222222"/>
                </a:solidFill>
              </a:rPr>
              <a:t>  —  Ho Chi Minh City University of Technology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22222"/>
                </a:solidFill>
              </a:rPr>
              <a:t>Hybrid two-tier RAG (FAQ gate + vector retrieval) for admissions advising. Only live-deployed system of all six — running at ura.hcmut.edu.vn.</a:t>
            </a:r>
          </a:p>
          <a:p>
            <a:r>
              <a:rPr sz="900" i="1">
                <a:solidFill>
                  <a:srgbClr val="666666"/>
                </a:solidFill>
              </a:rPr>
              <a:t>arXiv:2501.16276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9601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500000"/>
                </a:solidFill>
              </a:rPr>
              <a:t>Broad AI Student Support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371600"/>
            <a:ext cx="5486400" cy="164592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500000"/>
                </a:solidFill>
              </a:rPr>
              <a:t>Jill Watson</a:t>
            </a:r>
            <a:r>
              <a:rPr sz="1200" b="1">
                <a:solidFill>
                  <a:srgbClr val="222222"/>
                </a:solidFill>
              </a:rPr>
              <a:t>  —  Georgia Tech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22222"/>
                </a:solidFill>
              </a:rPr>
              <a:t>Oldest university AI assistant (2016); rebuilt on RAG + GPT-4o. Ingests syllabi and course Q&amp;A; integrates via Canvas / Blackboard LTI.</a:t>
            </a:r>
          </a:p>
          <a:p>
            <a:r>
              <a:rPr sz="900" i="1">
                <a:solidFill>
                  <a:srgbClr val="666666"/>
                </a:solidFill>
              </a:rPr>
              <a:t>dilab.gatech.edu/jill-watson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3017520"/>
            <a:ext cx="5486400" cy="164592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500000"/>
                </a:solidFill>
              </a:rPr>
              <a:t>Maizey / Go Blue</a:t>
            </a:r>
            <a:r>
              <a:rPr sz="1200" b="1">
                <a:solidFill>
                  <a:srgbClr val="222222"/>
                </a:solidFill>
              </a:rPr>
              <a:t>  —  University of Michigan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22222"/>
                </a:solidFill>
              </a:rPr>
              <a:t>First institution-wide LLM deployment in U.S. higher ed (2023). 3,500+ RAG instances across courses, dining, events, campus services.</a:t>
            </a:r>
          </a:p>
          <a:p>
            <a:r>
              <a:rPr sz="900" i="1">
                <a:solidFill>
                  <a:srgbClr val="666666"/>
                </a:solidFill>
              </a:rPr>
              <a:t>its.umich.edu/computing/ai/go-blue-ai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4663440"/>
            <a:ext cx="5486400" cy="164592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500000"/>
                </a:solidFill>
              </a:rPr>
              <a:t>Smart Plan</a:t>
            </a:r>
            <a:r>
              <a:rPr sz="1200" b="1">
                <a:solidFill>
                  <a:srgbClr val="222222"/>
                </a:solidFill>
              </a:rPr>
              <a:t>  —  Purdue University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22222"/>
                </a:solidFill>
              </a:rPr>
              <a:t>AI-driven degree planning engine ("GPS for graduation"). Enforces prerequisites, models what-if major changes, integrates with SIS/registrar in real time.</a:t>
            </a:r>
          </a:p>
          <a:p>
            <a:r>
              <a:rPr sz="900" i="1">
                <a:solidFill>
                  <a:srgbClr val="666666"/>
                </a:solidFill>
              </a:rPr>
              <a:t>Purdue Registrar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666666"/>
                </a:solidFill>
              </a:rPr>
              <a:t>Six representative academic RAG / AI systems — context for TamuBot's positioning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